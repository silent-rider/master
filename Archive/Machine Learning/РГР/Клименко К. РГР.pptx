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E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55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54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47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84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97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25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01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40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43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86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048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8F6E4B4-DCA7-4BEA-BCB9-3B476635563F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FF52A19-47A5-46B2-9750-03836D746CD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68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CF26E-A1E0-01C9-21B2-5A20355B0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384" y="233659"/>
            <a:ext cx="10653733" cy="356616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latin typeface="Bahnschrift" panose="020B0502040204020203" pitchFamily="34" charset="0"/>
              </a:rPr>
              <a:t>Автоматическая оценка степени тяжести болезней растений на основе изображений с применением глубокого обучения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FB655D-9245-50EB-CB97-0185EB4F5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816332" cy="1789536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Выполнил работу</a:t>
            </a:r>
          </a:p>
          <a:p>
            <a:r>
              <a:rPr lang="ru-RU" b="1" dirty="0"/>
              <a:t>Студент 1 курса</a:t>
            </a:r>
          </a:p>
          <a:p>
            <a:r>
              <a:rPr lang="ru-RU" b="1" dirty="0"/>
              <a:t>группы АПИМ-25</a:t>
            </a:r>
          </a:p>
          <a:p>
            <a:r>
              <a:rPr lang="ru-RU" b="1" dirty="0"/>
              <a:t>Клименко кирилл</a:t>
            </a:r>
          </a:p>
        </p:txBody>
      </p:sp>
    </p:spTree>
    <p:extLst>
      <p:ext uri="{BB962C8B-B14F-4D97-AF65-F5344CB8AC3E}">
        <p14:creationId xmlns:p14="http://schemas.microsoft.com/office/powerpoint/2010/main" val="187238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639" y="0"/>
            <a:ext cx="10058400" cy="1450757"/>
          </a:xfrm>
        </p:spPr>
        <p:txBody>
          <a:bodyPr>
            <a:normAutofit/>
          </a:bodyPr>
          <a:lstStyle/>
          <a:p>
            <a:r>
              <a:rPr lang="ru-RU" sz="4400" dirty="0"/>
              <a:t>Автоматическая оценка тяжести болезней растений с помощью DL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00881-A493-8A0A-CBF0-F31C96F65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07" y="1845733"/>
            <a:ext cx="11410544" cy="4409151"/>
          </a:xfrm>
        </p:spPr>
        <p:txBody>
          <a:bodyPr>
            <a:normAutofit/>
          </a:bodyPr>
          <a:lstStyle/>
          <a:p>
            <a:r>
              <a:rPr lang="ru-RU" sz="2800" b="1" dirty="0"/>
              <a:t>Цель:</a:t>
            </a:r>
          </a:p>
          <a:p>
            <a:r>
              <a:rPr lang="ru-RU" dirty="0"/>
              <a:t>Точная классификация стадий заболевания (например, чёрная гниль яблони) для поддержки защиты урожая и прогнозирования потерь.</a:t>
            </a:r>
            <a:endParaRPr lang="ru-RU" sz="1800" dirty="0"/>
          </a:p>
          <a:p>
            <a:r>
              <a:rPr lang="ru-RU" sz="2800" b="1" dirty="0"/>
              <a:t>Метод:</a:t>
            </a:r>
          </a:p>
          <a:p>
            <a:r>
              <a:rPr lang="ru-RU" dirty="0"/>
              <a:t>Использован датасет PlantVillage + экспертная аннотация (4 стадии тяжести).</a:t>
            </a:r>
          </a:p>
          <a:p>
            <a:r>
              <a:rPr lang="ru-RU" dirty="0"/>
              <a:t>Сравнение «мелких» моделей (обучение с нуля) и глубоких (трансферное обучение).</a:t>
            </a:r>
          </a:p>
          <a:p>
            <a:r>
              <a:rPr lang="ru-RU" sz="2800" b="1" dirty="0"/>
              <a:t>Результат:</a:t>
            </a:r>
          </a:p>
          <a:p>
            <a:r>
              <a:rPr lang="ru-RU" dirty="0"/>
              <a:t>✅ VGG16 с трансферным обучением — 90.4% accuracy</a:t>
            </a:r>
          </a:p>
          <a:p>
            <a:r>
              <a:rPr lang="ru-RU" dirty="0"/>
              <a:t>→ Высокая применимость в агротехнологиях.</a:t>
            </a:r>
          </a:p>
        </p:txBody>
      </p:sp>
    </p:spTree>
    <p:extLst>
      <p:ext uri="{BB962C8B-B14F-4D97-AF65-F5344CB8AC3E}">
        <p14:creationId xmlns:p14="http://schemas.microsoft.com/office/powerpoint/2010/main" val="256698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700391"/>
            <a:ext cx="10058400" cy="822960"/>
          </a:xfrm>
        </p:spPr>
        <p:txBody>
          <a:bodyPr>
            <a:normAutofit/>
          </a:bodyPr>
          <a:lstStyle/>
          <a:p>
            <a:r>
              <a:rPr lang="ru-RU" sz="4400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00881-A493-8A0A-CBF0-F31C96F65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07" y="1845733"/>
            <a:ext cx="11410544" cy="4409151"/>
          </a:xfrm>
        </p:spPr>
        <p:txBody>
          <a:bodyPr>
            <a:normAutofit fontScale="77500" lnSpcReduction="20000"/>
          </a:bodyPr>
          <a:lstStyle/>
          <a:p>
            <a:r>
              <a:rPr lang="ru-RU" sz="3600" b="1" dirty="0"/>
              <a:t>Проблема:</a:t>
            </a:r>
          </a:p>
          <a:p>
            <a:r>
              <a:rPr lang="ru-RU" sz="2800" dirty="0"/>
              <a:t>Болезни → потери урожая.</a:t>
            </a:r>
          </a:p>
          <a:p>
            <a:r>
              <a:rPr lang="ru-RU" sz="2800" dirty="0"/>
              <a:t>Ручная оценка тяжести — дорого, медленно, субъективно.</a:t>
            </a:r>
          </a:p>
          <a:p>
            <a:r>
              <a:rPr lang="ru-RU" sz="3600" b="1" dirty="0"/>
              <a:t>Решение → Автоматизация с DL:</a:t>
            </a:r>
          </a:p>
          <a:p>
            <a:r>
              <a:rPr lang="ru-RU" sz="2800" dirty="0"/>
              <a:t>Цифровые изображения + компьютерное зрение → объективная, быстрая диагностика.</a:t>
            </a:r>
          </a:p>
          <a:p>
            <a:r>
              <a:rPr lang="ru-RU" sz="2800" dirty="0"/>
              <a:t>Цель работы: классификация стадий тяжести (не просто «болен/здоров», а насколько болен).</a:t>
            </a:r>
          </a:p>
          <a:p>
            <a:r>
              <a:rPr lang="ru-RU" sz="3600" b="1" dirty="0"/>
              <a:t>Что сделано:</a:t>
            </a:r>
          </a:p>
          <a:p>
            <a:r>
              <a:rPr lang="ru-RU" sz="2800" dirty="0"/>
              <a:t>Расширена разметка PlantVillage (4 стадии чёрной гнили яблони).</a:t>
            </a:r>
          </a:p>
          <a:p>
            <a:r>
              <a:rPr lang="ru-RU" sz="2800" dirty="0"/>
              <a:t>Сравнены «мелкие» CNN (с нуля) и глубокие CNN (трансферное обучение)</a:t>
            </a:r>
          </a:p>
          <a:p>
            <a:r>
              <a:rPr lang="ru-RU" sz="2800" dirty="0"/>
              <a:t>Выбрана лучшая архитектура (VGG16, 90.4% acc).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933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919" y="603116"/>
            <a:ext cx="10058400" cy="959147"/>
          </a:xfrm>
        </p:spPr>
        <p:txBody>
          <a:bodyPr>
            <a:normAutofit/>
          </a:bodyPr>
          <a:lstStyle/>
          <a:p>
            <a:r>
              <a:rPr lang="ru-RU" sz="4400" dirty="0"/>
              <a:t>Связанные работы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BF44B42-6AFF-EB35-5C03-DA9F9FB48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1712"/>
              </p:ext>
            </p:extLst>
          </p:nvPr>
        </p:nvGraphicFramePr>
        <p:xfrm>
          <a:off x="1702341" y="2054860"/>
          <a:ext cx="9119139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9713">
                  <a:extLst>
                    <a:ext uri="{9D8B030D-6E8A-4147-A177-3AD203B41FA5}">
                      <a16:colId xmlns:a16="http://schemas.microsoft.com/office/drawing/2014/main" val="2383948435"/>
                    </a:ext>
                  </a:extLst>
                </a:gridCol>
                <a:gridCol w="3039713">
                  <a:extLst>
                    <a:ext uri="{9D8B030D-6E8A-4147-A177-3AD203B41FA5}">
                      <a16:colId xmlns:a16="http://schemas.microsoft.com/office/drawing/2014/main" val="831194917"/>
                    </a:ext>
                  </a:extLst>
                </a:gridCol>
                <a:gridCol w="3039713">
                  <a:extLst>
                    <a:ext uri="{9D8B030D-6E8A-4147-A177-3AD203B41FA5}">
                      <a16:colId xmlns:a16="http://schemas.microsoft.com/office/drawing/2014/main" val="2653142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Подход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Ограничения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01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Классическое компьютерное зрение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ASSESS, Leaf Doctor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• Зависимость от порогов</a:t>
                      </a:r>
                    </a:p>
                    <a:p>
                      <a:r>
                        <a:rPr lang="ru-RU" dirty="0"/>
                        <a:t>• Цветовая изменчивость </a:t>
                      </a:r>
                    </a:p>
                    <a:p>
                      <a:r>
                        <a:rPr lang="ru-RU" dirty="0"/>
                        <a:t>• Признаки — вручную, под каждый случай заново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82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Полуавтоматика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CLS Rater,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Требует участия человека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Низкая обобщаемость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Не решает </a:t>
                      </a:r>
                      <a:r>
                        <a:rPr lang="ru-RU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fine-grained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классификацию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390269"/>
                  </a:ext>
                </a:extLst>
              </a:tr>
            </a:tbl>
          </a:graphicData>
        </a:graphic>
      </p:graphicFrame>
      <p:sp>
        <p:nvSpPr>
          <p:cNvPr id="5" name="Объект 2">
            <a:extLst>
              <a:ext uri="{FF2B5EF4-FFF2-40B4-BE49-F238E27FC236}">
                <a16:creationId xmlns:a16="http://schemas.microsoft.com/office/drawing/2014/main" id="{B30BEE3B-EBDF-6841-AA77-2D5FAE2B8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07" y="5223752"/>
            <a:ext cx="11410544" cy="959147"/>
          </a:xfrm>
        </p:spPr>
        <p:txBody>
          <a:bodyPr>
            <a:normAutofit/>
          </a:bodyPr>
          <a:lstStyle/>
          <a:p>
            <a:pPr algn="ctr"/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❌ </a:t>
            </a:r>
            <a:r>
              <a:rPr lang="ru-RU" sz="2400" dirty="0"/>
              <a:t>Нет полностью автоматизированных решений для оценки степени тяжести (а не просто «болен/здоров»).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04789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700391"/>
            <a:ext cx="10058400" cy="822960"/>
          </a:xfrm>
        </p:spPr>
        <p:txBody>
          <a:bodyPr>
            <a:normAutofit/>
          </a:bodyPr>
          <a:lstStyle/>
          <a:p>
            <a:r>
              <a:rPr lang="ru-RU" sz="4400" dirty="0"/>
              <a:t>Сравниваемые архитектуры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00881-A493-8A0A-CBF0-F31C96F65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6" y="1816551"/>
            <a:ext cx="3210127" cy="693186"/>
          </a:xfrm>
        </p:spPr>
        <p:txBody>
          <a:bodyPr>
            <a:normAutofit/>
          </a:bodyPr>
          <a:lstStyle/>
          <a:p>
            <a:r>
              <a:rPr lang="ru-RU" sz="3200" b="1" dirty="0"/>
              <a:t>«Мелкая» </a:t>
            </a:r>
            <a:r>
              <a:rPr lang="en-US" sz="3200" b="1" dirty="0"/>
              <a:t>CNN</a:t>
            </a:r>
            <a:endParaRPr lang="ru-RU" sz="3200" b="1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1FA47B1-DCA2-76CF-96BB-544407577DAC}"/>
              </a:ext>
            </a:extLst>
          </p:cNvPr>
          <p:cNvSpPr txBox="1">
            <a:spLocks/>
          </p:cNvSpPr>
          <p:nvPr/>
        </p:nvSpPr>
        <p:spPr>
          <a:xfrm>
            <a:off x="4824919" y="1823757"/>
            <a:ext cx="7031153" cy="5789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/>
              <a:t>Глубокие </a:t>
            </a:r>
            <a:r>
              <a:rPr lang="en-US" sz="3200" b="1" dirty="0"/>
              <a:t>CNN</a:t>
            </a:r>
            <a:r>
              <a:rPr lang="ru-RU" sz="3200" b="1" dirty="0"/>
              <a:t> на базе предобученных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4B657D1-0218-8EDD-C6A5-178E7CBBD251}"/>
              </a:ext>
            </a:extLst>
          </p:cNvPr>
          <p:cNvSpPr txBox="1">
            <a:spLocks/>
          </p:cNvSpPr>
          <p:nvPr/>
        </p:nvSpPr>
        <p:spPr>
          <a:xfrm>
            <a:off x="4599357" y="2521988"/>
            <a:ext cx="1575881" cy="6931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VGGNet</a:t>
            </a:r>
            <a:endParaRPr lang="ru-RU" sz="3200" b="1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B2ABDB6-B246-D94E-24B6-771A092D30CB}"/>
              </a:ext>
            </a:extLst>
          </p:cNvPr>
          <p:cNvSpPr txBox="1">
            <a:spLocks/>
          </p:cNvSpPr>
          <p:nvPr/>
        </p:nvSpPr>
        <p:spPr>
          <a:xfrm>
            <a:off x="10097310" y="2477673"/>
            <a:ext cx="1913105" cy="6931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ResNet50</a:t>
            </a:r>
            <a:endParaRPr lang="ru-RU" sz="3200" b="1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54B2865-4D01-64B9-C3B9-47927B056EA4}"/>
              </a:ext>
            </a:extLst>
          </p:cNvPr>
          <p:cNvSpPr txBox="1">
            <a:spLocks/>
          </p:cNvSpPr>
          <p:nvPr/>
        </p:nvSpPr>
        <p:spPr>
          <a:xfrm>
            <a:off x="7011147" y="2487043"/>
            <a:ext cx="2331034" cy="6931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Inception-v3 </a:t>
            </a:r>
            <a:endParaRPr lang="ru-RU" sz="3200" b="1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D63603BB-ACE1-4830-C7A5-5686EEC3241D}"/>
              </a:ext>
            </a:extLst>
          </p:cNvPr>
          <p:cNvSpPr txBox="1">
            <a:spLocks/>
          </p:cNvSpPr>
          <p:nvPr/>
        </p:nvSpPr>
        <p:spPr>
          <a:xfrm>
            <a:off x="335848" y="2431917"/>
            <a:ext cx="3973506" cy="3988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Слои: 2, 4, 6, 8 или 10 свёрточных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Фильтры: 32 × (3×3) в первых слоях → 64 × (3×3) в последнем свёрточном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Активация: ReLU после каждого свёрточного слоя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Пулинг: MaxPool 2×2 после каждого свёрточного (кроме последнего)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Полносвязные: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1-й: 64 нейрона, ReLU + Dropout (50%)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2-й: 4 выхода → Softmax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A0E764C2-508E-C5A7-16A2-FB316C6F9196}"/>
              </a:ext>
            </a:extLst>
          </p:cNvPr>
          <p:cNvSpPr txBox="1">
            <a:spLocks/>
          </p:cNvSpPr>
          <p:nvPr/>
        </p:nvSpPr>
        <p:spPr>
          <a:xfrm>
            <a:off x="4521293" y="3170858"/>
            <a:ext cx="2157674" cy="251045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16 весовых слоёв (13 свёрточных + 3 полносвязных)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Только фильтры 3×3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7231678A-CCE1-99D1-D117-681DB1A4AFDE}"/>
              </a:ext>
            </a:extLst>
          </p:cNvPr>
          <p:cNvSpPr txBox="1">
            <a:spLocks/>
          </p:cNvSpPr>
          <p:nvPr/>
        </p:nvSpPr>
        <p:spPr>
          <a:xfrm>
            <a:off x="7011147" y="3153567"/>
            <a:ext cx="2520519" cy="2510453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Блоки Inception с параллельными ветвями (1×1, 3×3, 5×5, pool)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Факторизация свёрток → снижение параметров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BatchNorm + RMSProp в обучении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D7D62399-E0BD-F7D4-2FF6-B04BEC81213B}"/>
              </a:ext>
            </a:extLst>
          </p:cNvPr>
          <p:cNvSpPr txBox="1">
            <a:spLocks/>
          </p:cNvSpPr>
          <p:nvPr/>
        </p:nvSpPr>
        <p:spPr>
          <a:xfrm>
            <a:off x="9863847" y="3215174"/>
            <a:ext cx="2328153" cy="251045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50 слоёв, остаточные блоки с skip-соединениями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Skip-</a:t>
            </a:r>
            <a:r>
              <a:rPr lang="ru-RU" sz="1800" dirty="0" err="1"/>
              <a:t>connection</a:t>
            </a:r>
            <a:r>
              <a:rPr lang="ru-RU" sz="1800" dirty="0"/>
              <a:t>: суммирование входа и выхода блока</a:t>
            </a:r>
          </a:p>
        </p:txBody>
      </p:sp>
    </p:spTree>
    <p:extLst>
      <p:ext uri="{BB962C8B-B14F-4D97-AF65-F5344CB8AC3E}">
        <p14:creationId xmlns:p14="http://schemas.microsoft.com/office/powerpoint/2010/main" val="360149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699762-56EB-46A3-FC8E-6F792F5C1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4" y="1871444"/>
            <a:ext cx="11849830" cy="4295892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9CBFC8D-59E9-BF08-77F3-B09A7638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188" y="473738"/>
            <a:ext cx="7871622" cy="822960"/>
          </a:xfrm>
        </p:spPr>
        <p:txBody>
          <a:bodyPr>
            <a:normAutofit/>
          </a:bodyPr>
          <a:lstStyle/>
          <a:p>
            <a:r>
              <a:rPr lang="ru-RU" sz="4400" dirty="0"/>
              <a:t>Визуализация активаций </a:t>
            </a:r>
            <a:r>
              <a:rPr lang="en-US" sz="4400" dirty="0"/>
              <a:t>VGG15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30524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700391"/>
            <a:ext cx="10058400" cy="822960"/>
          </a:xfrm>
        </p:spPr>
        <p:txBody>
          <a:bodyPr>
            <a:normAutofit/>
          </a:bodyPr>
          <a:lstStyle/>
          <a:p>
            <a:r>
              <a:rPr lang="ru-RU" sz="4400" dirty="0"/>
              <a:t>Исходные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00881-A493-8A0A-CBF0-F31C96F65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07" y="1845733"/>
            <a:ext cx="6138153" cy="4409151"/>
          </a:xfrm>
        </p:spPr>
        <p:txBody>
          <a:bodyPr>
            <a:normAutofit/>
          </a:bodyPr>
          <a:lstStyle/>
          <a:p>
            <a:r>
              <a:rPr lang="ru-RU" dirty="0"/>
              <a:t>База: PlantVillage (открытая)</a:t>
            </a:r>
          </a:p>
          <a:p>
            <a:r>
              <a:rPr lang="ru-RU" dirty="0"/>
              <a:t>Отбор: яблоня — здоровые + поражённые Botryosphaeria obtusa</a:t>
            </a:r>
          </a:p>
          <a:p>
            <a:r>
              <a:rPr lang="ru-RU" dirty="0"/>
              <a:t>Спорные изображения: 179 удалено</a:t>
            </a:r>
          </a:p>
          <a:p>
            <a:r>
              <a:rPr lang="ru-RU" dirty="0"/>
              <a:t>Итог: 2086 изображений</a:t>
            </a:r>
          </a:p>
          <a:p>
            <a:r>
              <a:rPr lang="ru-RU" dirty="0"/>
              <a:t>Здоровые: 1644</a:t>
            </a:r>
          </a:p>
          <a:p>
            <a:r>
              <a:rPr lang="ru-RU" dirty="0"/>
              <a:t>Ранняя: 137</a:t>
            </a:r>
          </a:p>
          <a:p>
            <a:r>
              <a:rPr lang="ru-RU" dirty="0"/>
              <a:t>Средняя: 180</a:t>
            </a:r>
          </a:p>
          <a:p>
            <a:r>
              <a:rPr lang="ru-RU" dirty="0"/>
              <a:t>Конечная: 125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9AE554-733F-E260-7A82-844E9CE88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698" y="4397250"/>
            <a:ext cx="8259328" cy="1857634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5659A3E7-91CA-AC39-B24A-186ED94DF17D}"/>
              </a:ext>
            </a:extLst>
          </p:cNvPr>
          <p:cNvSpPr txBox="1">
            <a:spLocks/>
          </p:cNvSpPr>
          <p:nvPr/>
        </p:nvSpPr>
        <p:spPr>
          <a:xfrm>
            <a:off x="6812604" y="1845733"/>
            <a:ext cx="5094051" cy="440915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Разметка: 4 стадии (эксперты-ботаники):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Здоровая — без пятен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Ранняя — пятна &lt; 5 мм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Средняя — ≥3 пятна, «глаз лягушки»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Конечная — сильное поражение, листья опадают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028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700391"/>
            <a:ext cx="10058400" cy="822960"/>
          </a:xfrm>
        </p:spPr>
        <p:txBody>
          <a:bodyPr>
            <a:normAutofit/>
          </a:bodyPr>
          <a:lstStyle/>
          <a:p>
            <a:r>
              <a:rPr lang="ru-RU" sz="4400" dirty="0"/>
              <a:t>Исходные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3E5EB3-7812-D2C9-484A-DDF84F482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774" y="1828361"/>
            <a:ext cx="9393022" cy="432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8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700391"/>
            <a:ext cx="10058400" cy="822960"/>
          </a:xfrm>
        </p:spPr>
        <p:txBody>
          <a:bodyPr>
            <a:normAutofit/>
          </a:bodyPr>
          <a:lstStyle/>
          <a:p>
            <a:r>
              <a:rPr lang="ru-RU" sz="4400" dirty="0"/>
              <a:t>Предварительная обработка изображений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00881-A493-8A0A-CBF0-F31C96F65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07" y="1845733"/>
            <a:ext cx="11147897" cy="440915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1. Масштабирование (зависит от модели):</a:t>
            </a:r>
          </a:p>
          <a:p>
            <a:r>
              <a:rPr lang="ru-RU" dirty="0"/>
              <a:t>«Мелкие» CNN → 256×256          VGG16/VGG19/ResNet50 → 224×224       </a:t>
            </a:r>
            <a:r>
              <a:rPr lang="en-US" dirty="0"/>
              <a:t>I</a:t>
            </a:r>
            <a:r>
              <a:rPr lang="ru-RU" dirty="0"/>
              <a:t>nception-v3 → 299×299</a:t>
            </a:r>
          </a:p>
          <a:p>
            <a:r>
              <a:rPr lang="ru-RU" dirty="0"/>
              <a:t>2. Нормализация значений пикселей:</a:t>
            </a:r>
          </a:p>
          <a:p>
            <a:r>
              <a:rPr lang="ru-RU" dirty="0"/>
              <a:t>/ 255 → диапазон [0, 1]</a:t>
            </a:r>
          </a:p>
          <a:p>
            <a:r>
              <a:rPr lang="ru-RU" dirty="0"/>
              <a:t>3. Sample-wise стандартизация:</a:t>
            </a:r>
          </a:p>
          <a:p>
            <a:r>
              <a:rPr lang="ru-RU" dirty="0"/>
              <a:t>Для каждого изображения:</a:t>
            </a:r>
          </a:p>
          <a:p>
            <a:r>
              <a:rPr lang="ru-RU" dirty="0"/>
              <a:t>→ среднее = 0, дисперсия ≈ 1</a:t>
            </a:r>
          </a:p>
          <a:p>
            <a:r>
              <a:rPr lang="ru-RU" dirty="0"/>
              <a:t>4. Аугментация (для train):</a:t>
            </a:r>
          </a:p>
          <a:p>
            <a:r>
              <a:rPr lang="ru-RU" dirty="0"/>
              <a:t>Вращение, сдвиг, масштабирование, горизонтальное отражение</a:t>
            </a:r>
          </a:p>
          <a:p>
            <a:r>
              <a:rPr lang="ru-RU" dirty="0"/>
              <a:t>→ снижение переобучения, улучшение обобщения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0D7FA31-BCA4-4BB2-AC95-202CB4CC7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012" y="3191313"/>
            <a:ext cx="1695687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0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700391"/>
            <a:ext cx="10058400" cy="822960"/>
          </a:xfrm>
        </p:spPr>
        <p:txBody>
          <a:bodyPr>
            <a:normAutofit/>
          </a:bodyPr>
          <a:lstStyle/>
          <a:p>
            <a:r>
              <a:rPr lang="ru-RU" sz="4400" dirty="0"/>
              <a:t>Алгоритм обучения нейронной сети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0D7FA31-BCA4-4BB2-AC95-202CB4CC7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012" y="3191313"/>
            <a:ext cx="1695687" cy="981212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EC8E98E-898B-AAB6-0688-8C2D74A37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592844"/>
              </p:ext>
            </p:extLst>
          </p:nvPr>
        </p:nvGraphicFramePr>
        <p:xfrm>
          <a:off x="175099" y="1803873"/>
          <a:ext cx="11935838" cy="4355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6324">
                  <a:extLst>
                    <a:ext uri="{9D8B030D-6E8A-4147-A177-3AD203B41FA5}">
                      <a16:colId xmlns:a16="http://schemas.microsoft.com/office/drawing/2014/main" val="1082908393"/>
                    </a:ext>
                  </a:extLst>
                </a:gridCol>
                <a:gridCol w="8239514">
                  <a:extLst>
                    <a:ext uri="{9D8B030D-6E8A-4147-A177-3AD203B41FA5}">
                      <a16:colId xmlns:a16="http://schemas.microsoft.com/office/drawing/2014/main" val="3499300102"/>
                    </a:ext>
                  </a:extLst>
                </a:gridCol>
              </a:tblGrid>
              <a:tr h="3281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Аспект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Подход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322890"/>
                  </a:ext>
                </a:extLst>
              </a:tr>
              <a:tr h="3281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Функция потерь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000" algn="l" fontAlgn="b"/>
                      <a:r>
                        <a:rPr lang="ru-RU" sz="2000" u="none" strike="noStrike" dirty="0">
                          <a:effectLst/>
                        </a:rPr>
                        <a:t>Кросс-энтропия (4 класса)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44601720"/>
                  </a:ext>
                </a:extLst>
              </a:tr>
              <a:tr h="3281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Оптимизация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000" algn="l" fontAlgn="b"/>
                      <a:r>
                        <a:rPr lang="ru-RU" sz="2000" u="none" strike="noStrike" dirty="0">
                          <a:effectLst/>
                        </a:rPr>
                        <a:t>Градиентный спуск с подобранной learning rate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9182269"/>
                  </a:ext>
                </a:extLst>
              </a:tr>
              <a:tr h="921225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Регуляризация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000" algn="l" fontAlgn="b"/>
                      <a:r>
                        <a:rPr lang="ru-RU" sz="2000" u="none" strike="noStrike" dirty="0">
                          <a:effectLst/>
                        </a:rPr>
                        <a:t>• Dropout (50%) в «мелких» сетях</a:t>
                      </a:r>
                    </a:p>
                    <a:p>
                      <a:pPr indent="450000" algn="l" fontAlgn="b"/>
                      <a:r>
                        <a:rPr lang="ru-RU" sz="2000" u="none" strike="noStrike" dirty="0">
                          <a:effectLst/>
                        </a:rPr>
                        <a:t>• Аугментация (вращение, сдвиг, отражение)</a:t>
                      </a:r>
                    </a:p>
                    <a:p>
                      <a:pPr indent="450000" algn="l" fontAlgn="b"/>
                      <a:r>
                        <a:rPr lang="ru-RU" sz="2000" u="none" strike="noStrike" dirty="0">
                          <a:effectLst/>
                        </a:rPr>
                        <a:t>• Early stopping по loss на тесте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60471256"/>
                  </a:ext>
                </a:extLst>
              </a:tr>
              <a:tr h="152696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Трансферное обучение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450000"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1. </a:t>
                      </a:r>
                      <a:r>
                        <a:rPr lang="ru-RU" sz="2000" u="none" strike="noStrike" dirty="0">
                          <a:effectLst/>
                        </a:rPr>
                        <a:t>Замена головы (новые FC-слои)</a:t>
                      </a:r>
                    </a:p>
                    <a:p>
                      <a:pPr marL="0" indent="450000"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2. </a:t>
                      </a:r>
                      <a:r>
                        <a:rPr lang="ru-RU" sz="2000" u="none" strike="noStrike" dirty="0">
                          <a:effectLst/>
                        </a:rPr>
                        <a:t>Поэтапное размораживание:  </a:t>
                      </a:r>
                    </a:p>
                    <a:p>
                      <a:pPr marL="0" indent="450000" algn="l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– сначала: обучение только новых FC (остальное заморожено) </a:t>
                      </a:r>
                    </a:p>
                    <a:p>
                      <a:pPr marL="0" indent="450000" algn="l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– затем: разморозка верхних блоков + fine-tuning с малой learning </a:t>
                      </a:r>
                      <a:r>
                        <a:rPr lang="en-US" sz="2000" u="none" strike="noStrike" dirty="0">
                          <a:effectLst/>
                        </a:rPr>
                        <a:t>rate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70859912"/>
                  </a:ext>
                </a:extLst>
              </a:tr>
              <a:tr h="921225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u="none" strike="noStrike" dirty="0">
                          <a:effectLst/>
                        </a:rPr>
                        <a:t>Адаптивная </a:t>
                      </a:r>
                      <a:r>
                        <a:rPr lang="en-US" sz="2000" u="none" strike="noStrike" dirty="0">
                          <a:effectLst/>
                        </a:rPr>
                        <a:t>LR-</a:t>
                      </a:r>
                      <a:r>
                        <a:rPr lang="ru-RU" sz="2000" u="none" strike="noStrike" dirty="0">
                          <a:effectLst/>
                        </a:rPr>
                        <a:t>стратегия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000" algn="l" fontAlgn="b"/>
                      <a:r>
                        <a:rPr lang="ru-RU" sz="2000" u="none" strike="noStrike" dirty="0">
                          <a:effectLst/>
                        </a:rPr>
                        <a:t>Снижение LR в 10 раз:</a:t>
                      </a:r>
                    </a:p>
                    <a:p>
                      <a:pPr indent="450000" algn="l" fontAlgn="b"/>
                      <a:r>
                        <a:rPr lang="ru-RU" sz="2000" u="none" strike="noStrike" dirty="0">
                          <a:effectLst/>
                        </a:rPr>
                        <a:t>• каждые 50 эпох — для «мелких» (&lt;6 слоёв) и DL-моделей</a:t>
                      </a:r>
                    </a:p>
                    <a:p>
                      <a:pPr indent="450000" algn="l" fontAlgn="b"/>
                      <a:r>
                        <a:rPr lang="ru-RU" sz="2000" u="none" strike="noStrike" dirty="0">
                          <a:effectLst/>
                        </a:rPr>
                        <a:t>• каждые 100 эпох — для «мелких» (≥6 слоёв)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98852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233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700391"/>
            <a:ext cx="10058400" cy="822960"/>
          </a:xfrm>
        </p:spPr>
        <p:txBody>
          <a:bodyPr>
            <a:normAutofit/>
          </a:bodyPr>
          <a:lstStyle/>
          <a:p>
            <a:r>
              <a:rPr lang="ru-RU" sz="4400" dirty="0"/>
              <a:t>Результаты обучения (</a:t>
            </a:r>
            <a:r>
              <a:rPr lang="en-US" sz="4400" dirty="0"/>
              <a:t>accuracy)</a:t>
            </a:r>
            <a:endParaRPr lang="ru-RU" sz="44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041DBF4-BB92-2100-2AB7-E7B3082BDFCF}"/>
              </a:ext>
            </a:extLst>
          </p:cNvPr>
          <p:cNvSpPr txBox="1">
            <a:spLocks/>
          </p:cNvSpPr>
          <p:nvPr/>
        </p:nvSpPr>
        <p:spPr>
          <a:xfrm>
            <a:off x="2023354" y="1856152"/>
            <a:ext cx="3210127" cy="433452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/>
              <a:t>Мелкая </a:t>
            </a:r>
            <a:r>
              <a:rPr lang="en-US" sz="3200" b="1" dirty="0"/>
              <a:t>CNN</a:t>
            </a:r>
            <a:endParaRPr lang="ru-RU" sz="3200" b="1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8F6925BC-DC83-D023-E799-F94BEF24BF36}"/>
              </a:ext>
            </a:extLst>
          </p:cNvPr>
          <p:cNvSpPr txBox="1">
            <a:spLocks/>
          </p:cNvSpPr>
          <p:nvPr/>
        </p:nvSpPr>
        <p:spPr>
          <a:xfrm>
            <a:off x="8013647" y="1841627"/>
            <a:ext cx="3210127" cy="475329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/>
              <a:t>Глубокие </a:t>
            </a:r>
            <a:r>
              <a:rPr lang="en-US" sz="3200" b="1" dirty="0"/>
              <a:t>CNN</a:t>
            </a:r>
            <a:endParaRPr lang="ru-RU" sz="32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86661B-A42E-3595-1200-B9C66AABD8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5"/>
          <a:stretch/>
        </p:blipFill>
        <p:spPr>
          <a:xfrm>
            <a:off x="622570" y="2289604"/>
            <a:ext cx="4610911" cy="398002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4A78F8-904D-C2C7-D249-FBC34D4BA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487" y="2261340"/>
            <a:ext cx="4648849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9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76F2-1953-D9C1-3FF0-0748BA09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700391"/>
            <a:ext cx="10058400" cy="822960"/>
          </a:xfrm>
        </p:spPr>
        <p:txBody>
          <a:bodyPr>
            <a:normAutofit/>
          </a:bodyPr>
          <a:lstStyle/>
          <a:p>
            <a:r>
              <a:rPr lang="ru-RU" sz="4400" dirty="0"/>
              <a:t>Результаты обучения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E40070F-1287-8603-9823-C4B0C8F86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545881"/>
              </p:ext>
            </p:extLst>
          </p:nvPr>
        </p:nvGraphicFramePr>
        <p:xfrm>
          <a:off x="598015" y="1908687"/>
          <a:ext cx="11084904" cy="42489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4968">
                  <a:extLst>
                    <a:ext uri="{9D8B030D-6E8A-4147-A177-3AD203B41FA5}">
                      <a16:colId xmlns:a16="http://schemas.microsoft.com/office/drawing/2014/main" val="3671840230"/>
                    </a:ext>
                  </a:extLst>
                </a:gridCol>
                <a:gridCol w="3694968">
                  <a:extLst>
                    <a:ext uri="{9D8B030D-6E8A-4147-A177-3AD203B41FA5}">
                      <a16:colId xmlns:a16="http://schemas.microsoft.com/office/drawing/2014/main" val="2355844890"/>
                    </a:ext>
                  </a:extLst>
                </a:gridCol>
                <a:gridCol w="3694968">
                  <a:extLst>
                    <a:ext uri="{9D8B030D-6E8A-4147-A177-3AD203B41FA5}">
                      <a16:colId xmlns:a16="http://schemas.microsoft.com/office/drawing/2014/main" val="2139103823"/>
                    </a:ext>
                  </a:extLst>
                </a:gridCol>
              </a:tblGrid>
              <a:tr h="42358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Модель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BDE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Тест. точность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BDE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Комментарий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BD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039082"/>
                  </a:ext>
                </a:extLst>
              </a:tr>
              <a:tr h="95642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Мелкая </a:t>
                      </a:r>
                      <a:r>
                        <a:rPr lang="en-US" sz="1800" u="none" strike="noStrike" dirty="0">
                          <a:effectLst/>
                        </a:rPr>
                        <a:t>CNN (8 </a:t>
                      </a:r>
                      <a:r>
                        <a:rPr lang="ru-RU" sz="1800" u="none" strike="noStrike" dirty="0">
                          <a:effectLst/>
                        </a:rPr>
                        <a:t>слоёв)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BDE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79.3%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Пик для обученных с нуля моделей — дальше — переобучение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42039440"/>
                  </a:ext>
                </a:extLst>
              </a:tr>
              <a:tr h="7982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ANN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BDE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31%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Без свёрток — почти случайное угадывание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0938781"/>
                  </a:ext>
                </a:extLst>
              </a:tr>
              <a:tr h="7982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VGG16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BDE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90.4%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Лучший результат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38674911"/>
                  </a:ext>
                </a:extLst>
              </a:tr>
              <a:tr h="12723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Inception-v3 / ResNet50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BDE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80.0–88.5%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Хуже в fine-grained задачах: ResNet — склонен к локальным минимумам при SGD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60437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17462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</TotalTime>
  <Words>732</Words>
  <Application>Microsoft Office PowerPoint</Application>
  <PresentationFormat>Широкоэкранный</PresentationFormat>
  <Paragraphs>126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Bahnschrift</vt:lpstr>
      <vt:lpstr>Calibri</vt:lpstr>
      <vt:lpstr>Calibri Light</vt:lpstr>
      <vt:lpstr>system-ui</vt:lpstr>
      <vt:lpstr>Ретро</vt:lpstr>
      <vt:lpstr>Автоматическая оценка степени тяжести болезней растений на основе изображений с применением глубокого обучения</vt:lpstr>
      <vt:lpstr>Автоматическая оценка тяжести болезней растений с помощью DL</vt:lpstr>
      <vt:lpstr>Введение</vt:lpstr>
      <vt:lpstr>Связанные работы</vt:lpstr>
      <vt:lpstr>Сравниваемые архитектуры</vt:lpstr>
      <vt:lpstr>Визуализация активаций VGG15</vt:lpstr>
      <vt:lpstr>Исходные данные</vt:lpstr>
      <vt:lpstr>Исходные данные</vt:lpstr>
      <vt:lpstr>Предварительная обработка изображений</vt:lpstr>
      <vt:lpstr>Алгоритм обучения нейронной сети</vt:lpstr>
      <vt:lpstr>Результаты обучения (accuracy)</vt:lpstr>
      <vt:lpstr>Результаты обучения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Silent Rider</dc:creator>
  <cp:lastModifiedBy>Silent Rider</cp:lastModifiedBy>
  <cp:revision>28</cp:revision>
  <dcterms:created xsi:type="dcterms:W3CDTF">2025-12-03T17:28:16Z</dcterms:created>
  <dcterms:modified xsi:type="dcterms:W3CDTF">2025-12-03T19:12:10Z</dcterms:modified>
</cp:coreProperties>
</file>