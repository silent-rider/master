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6737E-674D-2A29-7A08-202781FFB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8948D3-D2CE-C0B0-A3E4-181F99A6A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6B0507-8E4E-C592-0660-6199E87E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2CAC4F-DD6C-869F-8291-4904AB2A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D6384C-F16C-EC06-43FE-59E66CB4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14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3ED-B928-ED2D-23F9-1C8E5F8A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142573-1805-843F-803D-7039C3C49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03F952-8603-50E4-3828-355234CB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377E54-5DF2-6BF1-DADC-571A2FD6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1A2A38-9AEC-AEF6-5DA2-C04A9319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67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12C00-120B-C41A-8AF1-FB5CAA0A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01CCA1-0B21-1209-6744-B09BE5B8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9B8F31-75DF-F953-0DD2-61681E18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0F506E-ABFC-09BB-284C-09A3F049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ED42C1-F80C-5465-DDE5-A300955B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32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CE956-4D94-B8FD-D809-3DA47060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F0FD5C-6DD5-2CCA-6FC0-1E69C73B8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2F9BEC-0388-ED9E-EC33-028522F7F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808621-101E-DE1F-010E-4266FBDD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CEE5AC-7DE2-895F-C8C7-FC94B534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B0128B-2668-D17A-02D3-206338C3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78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97EB4-9D6C-CD4B-3EA8-C220BF1C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06CADA-F89A-3908-04E4-3692637EA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08469D-01C8-2024-7B02-2102A1F7E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65DB76-44BB-C099-3B14-3A468A3C8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49D030-406D-6CCC-75AA-983D541DA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4EB6044-9DFC-C429-7569-32087132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E4CFA91-DF96-1D85-6BA8-B2043C20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E4931F-23AC-F590-E9D0-60CC1906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45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48883-04F8-CFB5-60D1-6930C380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B3129F-DC77-D7CF-5FDE-1DDF29F0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2A68E0-B5CB-B0FD-D08A-74D0B5EB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825A58-0A8B-EC86-39A7-F36836EF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1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36CEF2-53FD-A31A-9042-FAC7961E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E9EBCD-B244-2DFE-2256-CE35EDB3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F69268-AB64-B529-882D-D57CC6E7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25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19F44-7EE8-E6E5-C74E-9C58833A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39F5E-D0EA-62ED-97F9-83C52F41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D930A9-73F6-8644-4BB0-7977DCFB9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8FCDDF-5583-98EA-738E-370F03F7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4744AC-99D9-B07A-B70D-B026F5CF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6559A5-E4DA-0708-BAC9-2916FA43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39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CB80D8-263B-2578-C1E8-F46D6EF9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D6362A-EBAE-5D74-5AE2-BAD8B883A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EE703E-AEFE-1307-248E-DFE74BBAE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4D1CAB-2DC1-DEC0-5A70-65BE5CF5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B3407E-8208-E26C-4EB3-3921DA92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9291C8-7715-8F7D-B13A-5EBF60A2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60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A8689-8773-D9D1-31AD-2852C7CA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810D3B-DC77-04AB-1E71-7A1BD8B23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222212-2F56-EF37-6E41-2551DE14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E400E-F303-2239-F983-04B97F6D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E16550-BBA0-12AF-C060-0CE893E8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12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436AAA5-8A25-E3CE-D479-6A1B5ABEE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A1E779-CC91-E759-8D8A-D2C44D220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DE5071-4DAE-247C-2EDE-90446A1F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A05F-17E1-BC6D-D7A5-BA51E6DB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E0E56E-F9C6-38C7-551C-D979F7FD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48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970D6-95BD-6480-BD2D-393DB2977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A8DF25-93E0-5DBC-3F28-FAA9D95C1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93320A-BCD1-F757-4277-7B41A4EBF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8E309-9BDB-4970-AFF9-A0F6BF4B4126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0A0C68-F2EA-F6A0-52DC-7BD7530F2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6D5317-EB47-D693-CA71-5A4206D5A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626AE-DD9F-4BA7-82DF-2BCB0693EB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78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E58D815-C82F-0B8D-9245-3F3AE300C82C}"/>
              </a:ext>
            </a:extLst>
          </p:cNvPr>
          <p:cNvSpPr/>
          <p:nvPr/>
        </p:nvSpPr>
        <p:spPr>
          <a:xfrm>
            <a:off x="4635579" y="111361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Development of a Mobile App for Automated Plant‑Disease Detection and Severity Estimation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DE8F95-4980-5C8E-3FEB-923B7289B3A9}"/>
              </a:ext>
            </a:extLst>
          </p:cNvPr>
          <p:cNvSpPr/>
          <p:nvPr/>
        </p:nvSpPr>
        <p:spPr>
          <a:xfrm>
            <a:off x="4635579" y="4288890"/>
            <a:ext cx="6677689" cy="171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Kirill Klimenko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Novosibirsk State Technical University, Russia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b="1" dirty="0">
              <a:effectLst/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Research adviser:</a:t>
            </a:r>
            <a:r>
              <a:rPr lang="en-US" sz="1800" dirty="0"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Alexander Fedorovich Aleynikov</a:t>
            </a:r>
            <a:endParaRPr lang="ru-RU" sz="1800" dirty="0">
              <a:effectLst/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Language adviser:</a:t>
            </a:r>
            <a:r>
              <a:rPr lang="en-US" sz="1800" dirty="0"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Anna Aleksandrovna Khvostenko</a:t>
            </a:r>
            <a:endParaRPr lang="ru-RU" sz="1800" dirty="0">
              <a:effectLst/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BFB35B2-6AAE-EBCF-66B8-EEDE6C95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085"/>
          <a:stretch/>
        </p:blipFill>
        <p:spPr>
          <a:xfrm>
            <a:off x="0" y="0"/>
            <a:ext cx="4362202" cy="53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3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A6542BD-B211-DE5F-A78F-504026D1C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79" b="16667"/>
          <a:stretch/>
        </p:blipFill>
        <p:spPr>
          <a:xfrm>
            <a:off x="0" y="0"/>
            <a:ext cx="5032155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2ED47A1-E1E4-AC8D-333D-7A182AF48424}"/>
              </a:ext>
            </a:extLst>
          </p:cNvPr>
          <p:cNvSpPr/>
          <p:nvPr/>
        </p:nvSpPr>
        <p:spPr>
          <a:xfrm>
            <a:off x="5518538" y="102393"/>
            <a:ext cx="6397845" cy="657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4CAE01D-82D5-2DDF-BBDE-A9C5450B69BA}"/>
              </a:ext>
            </a:extLst>
          </p:cNvPr>
          <p:cNvSpPr/>
          <p:nvPr/>
        </p:nvSpPr>
        <p:spPr>
          <a:xfrm>
            <a:off x="5622125" y="888266"/>
            <a:ext cx="6190670" cy="243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Crop yield losses exceed 50% in some regions due to pests and diseases. Rural areas suffer from limited access to expert agronomists and timely diagnostics. Existing mobile tools often fail in realistic field conditions — noised backgrounds, variable lighting, and inconsistent capture angles — and rarely quantify disease severity.</a:t>
            </a:r>
            <a:endParaRPr lang="en-US" sz="17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6D09CF1-0404-7334-3F8F-28339108FA15}"/>
              </a:ext>
            </a:extLst>
          </p:cNvPr>
          <p:cNvSpPr/>
          <p:nvPr/>
        </p:nvSpPr>
        <p:spPr>
          <a:xfrm>
            <a:off x="5120824" y="3788224"/>
            <a:ext cx="3398219" cy="2967383"/>
          </a:xfrm>
          <a:prstGeom prst="roundRect">
            <a:avLst>
              <a:gd name="adj" fmla="val 343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05171A9-87F2-A85B-1B66-0C53B6CB3F12}"/>
              </a:ext>
            </a:extLst>
          </p:cNvPr>
          <p:cNvSpPr/>
          <p:nvPr/>
        </p:nvSpPr>
        <p:spPr>
          <a:xfrm>
            <a:off x="5622125" y="3973486"/>
            <a:ext cx="2629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BB094BF-9CE1-03B4-3EE8-305BC0716F43}"/>
              </a:ext>
            </a:extLst>
          </p:cNvPr>
          <p:cNvSpPr/>
          <p:nvPr/>
        </p:nvSpPr>
        <p:spPr>
          <a:xfrm>
            <a:off x="5232489" y="4513077"/>
            <a:ext cx="325245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Scarcity of expert agronomists in rural settings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Poor model generalisation in-field (noise, light)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Lack of reliable severity quantification</a:t>
            </a:r>
            <a:endParaRPr lang="en-US" sz="17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E4AEA1C5-47B1-58D0-4F7B-EC38DA1A64E2}"/>
              </a:ext>
            </a:extLst>
          </p:cNvPr>
          <p:cNvSpPr/>
          <p:nvPr/>
        </p:nvSpPr>
        <p:spPr>
          <a:xfrm>
            <a:off x="8719379" y="3788224"/>
            <a:ext cx="3398329" cy="2967383"/>
          </a:xfrm>
          <a:prstGeom prst="roundRect">
            <a:avLst>
              <a:gd name="adj" fmla="val 343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13E52BD-EB3B-D512-972E-E26917DCEFB9}"/>
              </a:ext>
            </a:extLst>
          </p:cNvPr>
          <p:cNvSpPr/>
          <p:nvPr/>
        </p:nvSpPr>
        <p:spPr>
          <a:xfrm>
            <a:off x="9104024" y="3973486"/>
            <a:ext cx="2629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7E6F8FA-28F9-15B2-E283-8A59019F51E6}"/>
              </a:ext>
            </a:extLst>
          </p:cNvPr>
          <p:cNvSpPr/>
          <p:nvPr/>
        </p:nvSpPr>
        <p:spPr>
          <a:xfrm>
            <a:off x="8919713" y="4513077"/>
            <a:ext cx="296356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 an offline-capable mobile app for real‑time diagnosis and pixel‑accurate severity estimation to support precise treatment decisions.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6227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7BDF6A6-15A1-A9DA-27C7-EEC8C75E5A62}"/>
              </a:ext>
            </a:extLst>
          </p:cNvPr>
          <p:cNvSpPr/>
          <p:nvPr/>
        </p:nvSpPr>
        <p:spPr>
          <a:xfrm>
            <a:off x="776526" y="183595"/>
            <a:ext cx="10711840" cy="63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Proposed Methodology — Three‑Stage Pipeline</a:t>
            </a:r>
            <a:endParaRPr lang="en-US" sz="345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9601576-B598-637A-1568-44ACDFC84A77}"/>
              </a:ext>
            </a:extLst>
          </p:cNvPr>
          <p:cNvSpPr/>
          <p:nvPr/>
        </p:nvSpPr>
        <p:spPr>
          <a:xfrm>
            <a:off x="912713" y="1154511"/>
            <a:ext cx="10575653" cy="105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Pipeline decomposes the task into: robust leaf localisation, crop-specific binary detection, and pixel-wise severity estimation. This hierarchical design reduces noise and improves quantification.</a:t>
            </a:r>
            <a:endParaRPr lang="en-US" sz="17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4D64B40A-C012-85B2-5864-C10DE243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581" y="2291616"/>
            <a:ext cx="8406385" cy="3332202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9C7F4313-42B9-6B1D-6634-351AEEBA9131}"/>
              </a:ext>
            </a:extLst>
          </p:cNvPr>
          <p:cNvSpPr/>
          <p:nvPr/>
        </p:nvSpPr>
        <p:spPr>
          <a:xfrm>
            <a:off x="3403607" y="4419237"/>
            <a:ext cx="1826811" cy="411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Leaf Segmentation</a:t>
            </a:r>
            <a:endParaRPr lang="en-US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7D9C40E-890B-64DA-6F59-4C1D175221E2}"/>
              </a:ext>
            </a:extLst>
          </p:cNvPr>
          <p:cNvSpPr/>
          <p:nvPr/>
        </p:nvSpPr>
        <p:spPr>
          <a:xfrm>
            <a:off x="3455308" y="4933068"/>
            <a:ext cx="1622530" cy="325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Isolate leaf from background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E657E4E-8891-CA1F-A732-CB6DFC04455A}"/>
              </a:ext>
            </a:extLst>
          </p:cNvPr>
          <p:cNvSpPr/>
          <p:nvPr/>
        </p:nvSpPr>
        <p:spPr>
          <a:xfrm>
            <a:off x="7706831" y="4368059"/>
            <a:ext cx="1473553" cy="41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Severity Estimation</a:t>
            </a:r>
            <a:endParaRPr lang="en-US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54B74EE-D7A7-D992-511D-07C942499E0E}"/>
              </a:ext>
            </a:extLst>
          </p:cNvPr>
          <p:cNvSpPr/>
          <p:nvPr/>
        </p:nvSpPr>
        <p:spPr>
          <a:xfrm>
            <a:off x="7706831" y="4933069"/>
            <a:ext cx="1473553" cy="325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Pixel mask to percent affected</a:t>
            </a:r>
            <a:endParaRPr lang="en-US" sz="1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47BC7E1-00E6-4F51-6547-88DCD2900DE9}"/>
              </a:ext>
            </a:extLst>
          </p:cNvPr>
          <p:cNvSpPr/>
          <p:nvPr/>
        </p:nvSpPr>
        <p:spPr>
          <a:xfrm>
            <a:off x="5559311" y="2615778"/>
            <a:ext cx="1768753" cy="411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Binary Classification &amp; Categorical Classification</a:t>
            </a:r>
            <a:endParaRPr lang="en-US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9FBAD93-0D56-AF2A-8E4D-8CE5BA9C900A}"/>
              </a:ext>
            </a:extLst>
          </p:cNvPr>
          <p:cNvSpPr/>
          <p:nvPr/>
        </p:nvSpPr>
        <p:spPr>
          <a:xfrm>
            <a:off x="5633996" y="3473765"/>
            <a:ext cx="1473553" cy="563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Crop-specific healthy vs diseased &amp; disease classification</a:t>
            </a:r>
            <a:endParaRPr lang="en-US" sz="12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BDE3128-7814-CAE8-82FF-ED39DD1B7F6A}"/>
              </a:ext>
            </a:extLst>
          </p:cNvPr>
          <p:cNvSpPr/>
          <p:nvPr/>
        </p:nvSpPr>
        <p:spPr>
          <a:xfrm>
            <a:off x="990448" y="5828986"/>
            <a:ext cx="10906480" cy="702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stage is optimised for lightweight on-device inference while preserving accuracy in realistic field conditions.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6744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1F9149A-3134-3459-CF05-E7E264F4E704}"/>
              </a:ext>
            </a:extLst>
          </p:cNvPr>
          <p:cNvSpPr/>
          <p:nvPr/>
        </p:nvSpPr>
        <p:spPr>
          <a:xfrm>
            <a:off x="5432822" y="200615"/>
            <a:ext cx="6580838" cy="84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Stage 1 — Leaf Segmentation</a:t>
            </a:r>
            <a:endParaRPr lang="en-US" sz="35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82535DE-D8B7-4A2E-BA1B-567D8AC73985}"/>
              </a:ext>
            </a:extLst>
          </p:cNvPr>
          <p:cNvSpPr/>
          <p:nvPr/>
        </p:nvSpPr>
        <p:spPr>
          <a:xfrm>
            <a:off x="5583677" y="942686"/>
            <a:ext cx="5819507" cy="155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Backbone: MobileNetV3Large. Goal: accurately isolate leaf pixels from complex backgrounds to reduce false positives in downstream steps. Pre-segmentation improves robustness to shadows, soil, and adjacent leaves.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C291E3D-75BD-741A-6FB1-5230C724696E}"/>
              </a:ext>
            </a:extLst>
          </p:cNvPr>
          <p:cNvSpPr/>
          <p:nvPr/>
        </p:nvSpPr>
        <p:spPr>
          <a:xfrm>
            <a:off x="6555157" y="3739718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Design choices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9FB45E9-79A0-2458-8603-98FFAAF58A93}"/>
              </a:ext>
            </a:extLst>
          </p:cNvPr>
          <p:cNvSpPr/>
          <p:nvPr/>
        </p:nvSpPr>
        <p:spPr>
          <a:xfrm>
            <a:off x="6175776" y="4248614"/>
            <a:ext cx="5837883" cy="2332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Lightweight encoder for mobile deployment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with diverse background augmentation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Post‑processing: morphological cleaning and contour selection</a:t>
            </a:r>
            <a:endParaRPr lang="en-US" sz="1750" dirty="0"/>
          </a:p>
        </p:txBody>
      </p:sp>
      <p:pic>
        <p:nvPicPr>
          <p:cNvPr id="8" name="Рисунок 7" descr="Изображение выглядит как грибок, Фитопатология, мильдью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CBE2F61-4414-78E8-D732-93C17A1BC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" y="3636491"/>
            <a:ext cx="4907458" cy="3221509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ибок, Фитопатология, мильдью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EE7BF64-04CF-5EFB-D74B-07C9DCDF4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66553" cy="312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2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C01F17B-C740-D706-9B8A-1151A33B04A3}"/>
              </a:ext>
            </a:extLst>
          </p:cNvPr>
          <p:cNvSpPr/>
          <p:nvPr/>
        </p:nvSpPr>
        <p:spPr>
          <a:xfrm>
            <a:off x="4255600" y="337134"/>
            <a:ext cx="7708208" cy="130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Stage 2 — Binary Classification &amp; Categorical Classification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2829831-1205-CA96-CA58-69970A7AB3AC}"/>
              </a:ext>
            </a:extLst>
          </p:cNvPr>
          <p:cNvSpPr/>
          <p:nvPr/>
        </p:nvSpPr>
        <p:spPr>
          <a:xfrm>
            <a:off x="4542817" y="1556427"/>
            <a:ext cx="7503927" cy="119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Approach: separate lightweight classifiers per crop to distinguish Healthy vs Diseased. This specialization reduces label noise from multi-crop variance and improves sensitivity to crop-specific symptoms.</a:t>
            </a:r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4A688C-C810-927F-2BA5-D1A114D7BF81}"/>
              </a:ext>
            </a:extLst>
          </p:cNvPr>
          <p:cNvSpPr/>
          <p:nvPr/>
        </p:nvSpPr>
        <p:spPr>
          <a:xfrm>
            <a:off x="4651699" y="3292673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Crops targeted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0F17524-D3F9-8232-E653-3AB72761D1DB}"/>
              </a:ext>
            </a:extLst>
          </p:cNvPr>
          <p:cNvSpPr/>
          <p:nvPr/>
        </p:nvSpPr>
        <p:spPr>
          <a:xfrm>
            <a:off x="4255600" y="3788262"/>
            <a:ext cx="7791144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Apple, Cherry, Corn, Grape, Pepper, Potato, Strawberry, Tomato</a:t>
            </a: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3B63D05-66CC-A73D-004E-E611DD09992C}"/>
              </a:ext>
            </a:extLst>
          </p:cNvPr>
          <p:cNvSpPr/>
          <p:nvPr/>
        </p:nvSpPr>
        <p:spPr>
          <a:xfrm>
            <a:off x="4651699" y="4372024"/>
            <a:ext cx="2566223" cy="36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Engineering notes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F6B6ED8-5B3B-3DDF-B4F9-78E9163F9DBE}"/>
              </a:ext>
            </a:extLst>
          </p:cNvPr>
          <p:cNvSpPr/>
          <p:nvPr/>
        </p:nvSpPr>
        <p:spPr>
          <a:xfrm>
            <a:off x="4255599" y="4822914"/>
            <a:ext cx="7791144" cy="151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Transfer learning from MobileNet + targeted augmentations (lighting, blur, occlusion)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Continual learning pipeline to get corrected field labels</a:t>
            </a:r>
            <a:endParaRPr lang="en-US" dirty="0"/>
          </a:p>
        </p:txBody>
      </p:sp>
      <p:pic>
        <p:nvPicPr>
          <p:cNvPr id="12" name="Рисунок 11" descr="Изображение выглядит как на открытом воздухе, Фитопатология, Наземное растение, мильдью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1522B2-03EC-40F3-6E93-73489D130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13" y="1"/>
            <a:ext cx="2487967" cy="3788262"/>
          </a:xfrm>
          <a:prstGeom prst="rect">
            <a:avLst/>
          </a:prstGeom>
        </p:spPr>
      </p:pic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518C89C1-3FEF-5997-8AB9-9A3439559079}"/>
              </a:ext>
            </a:extLst>
          </p:cNvPr>
          <p:cNvSpPr/>
          <p:nvPr/>
        </p:nvSpPr>
        <p:spPr>
          <a:xfrm>
            <a:off x="1653702" y="3920247"/>
            <a:ext cx="408562" cy="817122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EABFE170-9B2A-2958-4B7C-6C128B3BB2A8}"/>
              </a:ext>
            </a:extLst>
          </p:cNvPr>
          <p:cNvSpPr/>
          <p:nvPr/>
        </p:nvSpPr>
        <p:spPr>
          <a:xfrm>
            <a:off x="971770" y="4857621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31971"/>
                </a:solidFill>
                <a:latin typeface="Outfit Extra Bold" pitchFamily="34" charset="0"/>
              </a:rPr>
              <a:t>Bacterial Spot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318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0F12F7-5667-B9E4-3C42-FB597E20BF34}"/>
              </a:ext>
            </a:extLst>
          </p:cNvPr>
          <p:cNvSpPr/>
          <p:nvPr/>
        </p:nvSpPr>
        <p:spPr>
          <a:xfrm>
            <a:off x="5684194" y="340671"/>
            <a:ext cx="6507805" cy="744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Stage 3 — Severity Estimation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51626B-9055-0DB8-52E8-D2D3D58A9EF2}"/>
              </a:ext>
            </a:extLst>
          </p:cNvPr>
          <p:cNvSpPr/>
          <p:nvPr/>
        </p:nvSpPr>
        <p:spPr>
          <a:xfrm>
            <a:off x="5700408" y="1435093"/>
            <a:ext cx="5920581" cy="204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Architecture: U‑Net‑like decoder attached to MobileNetV3 encoder to output pixel-wise disease masks. Severity computed as (pixels_diseased / pixels_leaf) × 100.</a:t>
            </a: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3D5B25-5574-8E9D-F4AD-0C84BBBCB38B}"/>
              </a:ext>
            </a:extLst>
          </p:cNvPr>
          <p:cNvSpPr/>
          <p:nvPr/>
        </p:nvSpPr>
        <p:spPr>
          <a:xfrm>
            <a:off x="6909960" y="4022559"/>
            <a:ext cx="3464004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implementation details</a:t>
            </a:r>
            <a:endParaRPr lang="en-US" sz="2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46976B-2142-16C4-EE91-858D7E362762}"/>
              </a:ext>
            </a:extLst>
          </p:cNvPr>
          <p:cNvSpPr/>
          <p:nvPr/>
        </p:nvSpPr>
        <p:spPr>
          <a:xfrm>
            <a:off x="5564221" y="4569770"/>
            <a:ext cx="6406964" cy="123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Loss: Intersection over Unit</a:t>
            </a:r>
            <a:endParaRPr lang="en-US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Output: per-leaf % affected and visual overlay for user verification</a:t>
            </a:r>
            <a:endParaRPr lang="en-US" dirty="0"/>
          </a:p>
        </p:txBody>
      </p:sp>
      <p:pic>
        <p:nvPicPr>
          <p:cNvPr id="9" name="Рисунок 8" descr="Изображение выглядит как Фитопатология, лист, мильдью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7085E8-46E4-F4E9-5F6A-FF9B29756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22543" cy="329767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Графика, черно-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4EB47F6-9F96-6C3E-E8BB-31BAEE665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0322"/>
            <a:ext cx="4822542" cy="329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9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117D619-A578-6298-4294-26403E1278D8}"/>
              </a:ext>
            </a:extLst>
          </p:cNvPr>
          <p:cNvSpPr/>
          <p:nvPr/>
        </p:nvSpPr>
        <p:spPr>
          <a:xfrm>
            <a:off x="4531029" y="364995"/>
            <a:ext cx="5965116" cy="85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Novelty &amp; Implementation</a:t>
            </a:r>
            <a:endParaRPr lang="en-US" sz="355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6CE190C-8A9A-1703-8871-2590A6034B25}"/>
              </a:ext>
            </a:extLst>
          </p:cNvPr>
          <p:cNvSpPr/>
          <p:nvPr/>
        </p:nvSpPr>
        <p:spPr>
          <a:xfrm>
            <a:off x="4407846" y="1629069"/>
            <a:ext cx="742098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mo" pitchFamily="34" charset="0"/>
                <a:ea typeface="Arimo" pitchFamily="34" charset="-122"/>
                <a:cs typeface="Arimo" pitchFamily="34" charset="-120"/>
              </a:rPr>
              <a:t>Hierarchical decomposition (localisation → detection → quantification) and modular crop-specific retraining enable scalable, robust mobile diagnosis. Implemented in Python with Keras/TensorFlow and optimized for Android using lightweight backbones.</a:t>
            </a:r>
            <a:endParaRPr lang="en-US" sz="175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53D4D-6E63-6197-83D1-AF1555E966AA}"/>
              </a:ext>
            </a:extLst>
          </p:cNvPr>
          <p:cNvSpPr/>
          <p:nvPr/>
        </p:nvSpPr>
        <p:spPr>
          <a:xfrm>
            <a:off x="5162737" y="439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Practical notes</a:t>
            </a:r>
            <a:endParaRPr lang="en-US" sz="22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99B451A-2827-722B-1053-E854ED381030}"/>
              </a:ext>
            </a:extLst>
          </p:cNvPr>
          <p:cNvSpPr/>
          <p:nvPr/>
        </p:nvSpPr>
        <p:spPr>
          <a:xfrm>
            <a:off x="5007094" y="4993722"/>
            <a:ext cx="6666097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Offline inference for connectivity-limited regions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Small size of models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Modular updates allow individual crop models to be replaced without app-wide recreating</a:t>
            </a:r>
            <a:endParaRPr lang="en-US" sz="17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7152921-45CB-CC39-0711-4973F615C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36"/>
          <a:stretch/>
        </p:blipFill>
        <p:spPr>
          <a:xfrm>
            <a:off x="0" y="0"/>
            <a:ext cx="3535019" cy="42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5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D146B0B-7FB1-DF0D-05D1-E8455D54428D}"/>
              </a:ext>
            </a:extLst>
          </p:cNvPr>
          <p:cNvSpPr/>
          <p:nvPr/>
        </p:nvSpPr>
        <p:spPr>
          <a:xfrm>
            <a:off x="2060203" y="160714"/>
            <a:ext cx="8826865" cy="85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Performance Targets &amp; Current Status</a:t>
            </a:r>
            <a:endParaRPr lang="en-US" sz="3550" dirty="0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B09F00D-4ECD-D703-5A15-91AAAF6D3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001" y="1033046"/>
            <a:ext cx="697964" cy="69796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6EB6A9D-7F08-77A3-5103-AF9F3F0E4570}"/>
              </a:ext>
            </a:extLst>
          </p:cNvPr>
          <p:cNvSpPr/>
          <p:nvPr/>
        </p:nvSpPr>
        <p:spPr>
          <a:xfrm>
            <a:off x="1280173" y="1118681"/>
            <a:ext cx="2630119" cy="54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Performance targets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151661-C4E7-C840-7770-4AB9670A0C62}"/>
              </a:ext>
            </a:extLst>
          </p:cNvPr>
          <p:cNvSpPr/>
          <p:nvPr/>
        </p:nvSpPr>
        <p:spPr>
          <a:xfrm>
            <a:off x="339001" y="1800420"/>
            <a:ext cx="6134635" cy="222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Leaf Segmentation IoU ≥ 0.80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Spot Segmentation IoU ≥ 0.70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Binary Classification Accuracy ≥ 0.80 across 8 crops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Categorical Disease Classification Accuracy ≥ 0.80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Inference time &lt; 2s on mid‑tier Android</a:t>
            </a:r>
            <a:endParaRPr lang="en-US" dirty="0"/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00DAD0F6-9922-9EAB-C0ED-FC31817EC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365" y="1237004"/>
            <a:ext cx="621758" cy="62175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D719EAC-EBD9-8601-94F1-FD1566328175}"/>
              </a:ext>
            </a:extLst>
          </p:cNvPr>
          <p:cNvSpPr/>
          <p:nvPr/>
        </p:nvSpPr>
        <p:spPr>
          <a:xfrm>
            <a:off x="7678369" y="1237004"/>
            <a:ext cx="2341120" cy="54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Current status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31D0494-6C45-5823-3C45-40744FC7D086}"/>
              </a:ext>
            </a:extLst>
          </p:cNvPr>
          <p:cNvSpPr/>
          <p:nvPr/>
        </p:nvSpPr>
        <p:spPr>
          <a:xfrm>
            <a:off x="7003915" y="2051543"/>
            <a:ext cx="4961107" cy="222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of 8 binary classifiers exceed 0.80 accuracy. Fine‑tuning underway on a curated real‑world dataset (~4,500 images) with corrected masks.</a:t>
            </a:r>
            <a:endParaRPr lang="en-US" dirty="0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224FECEE-3E83-C60C-28F5-21A4B5FE87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978" y="4155503"/>
            <a:ext cx="575399" cy="57539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913FA38F-E794-4CFE-9E27-12940AED55F8}"/>
              </a:ext>
            </a:extLst>
          </p:cNvPr>
          <p:cNvSpPr/>
          <p:nvPr/>
        </p:nvSpPr>
        <p:spPr>
          <a:xfrm>
            <a:off x="1036965" y="4125504"/>
            <a:ext cx="2630119" cy="54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3CE52F0-69D1-B53F-341F-B09476F19614}"/>
              </a:ext>
            </a:extLst>
          </p:cNvPr>
          <p:cNvSpPr/>
          <p:nvPr/>
        </p:nvSpPr>
        <p:spPr>
          <a:xfrm>
            <a:off x="226979" y="4864342"/>
            <a:ext cx="5269149" cy="14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Complete mask correction and re‑train segmentation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Expand crop coverage and severity calibration</a:t>
            </a:r>
            <a:endParaRPr lang="en-US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207F44D-E80E-0377-4782-4962628C1FE1}"/>
              </a:ext>
            </a:extLst>
          </p:cNvPr>
          <p:cNvSpPr/>
          <p:nvPr/>
        </p:nvSpPr>
        <p:spPr>
          <a:xfrm>
            <a:off x="7003915" y="4611920"/>
            <a:ext cx="5136205" cy="208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Implementation stack: Python, Keras / TensorFlow, MobileNetV3 backbones, Java, Android optimised inference (TFLite) with offline capability.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580598-0104-791B-FFBF-80B3088E91BC}"/>
              </a:ext>
            </a:extLst>
          </p:cNvPr>
          <p:cNvSpPr/>
          <p:nvPr/>
        </p:nvSpPr>
        <p:spPr>
          <a:xfrm>
            <a:off x="3284071" y="196488"/>
            <a:ext cx="619067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 &amp; Future Work</a:t>
            </a:r>
            <a:endParaRPr lang="en-US" sz="35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3F9E79-BB2A-792E-44BD-4C0837082F58}"/>
              </a:ext>
            </a:extLst>
          </p:cNvPr>
          <p:cNvSpPr/>
          <p:nvPr/>
        </p:nvSpPr>
        <p:spPr>
          <a:xfrm>
            <a:off x="696513" y="1360765"/>
            <a:ext cx="1081130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Modular pipeline substantially increases robustness in field conditions and provides actionable severity estimates to guide targeted interventions. The approach prioritises on-device performance without sacrificing interpretability.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85F0BC-DA67-5924-C5B4-FCEF9D2C9CAE}"/>
              </a:ext>
            </a:extLst>
          </p:cNvPr>
          <p:cNvSpPr/>
          <p:nvPr/>
        </p:nvSpPr>
        <p:spPr>
          <a:xfrm>
            <a:off x="229586" y="3766919"/>
            <a:ext cx="1840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9774942-C3E5-2FA1-9B30-A9A56391C79A}"/>
              </a:ext>
            </a:extLst>
          </p:cNvPr>
          <p:cNvSpPr/>
          <p:nvPr/>
        </p:nvSpPr>
        <p:spPr>
          <a:xfrm>
            <a:off x="229586" y="4121963"/>
            <a:ext cx="34046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1CFAF1-681E-F438-19BD-D2EA7E944060}"/>
              </a:ext>
            </a:extLst>
          </p:cNvPr>
          <p:cNvSpPr/>
          <p:nvPr/>
        </p:nvSpPr>
        <p:spPr>
          <a:xfrm>
            <a:off x="229586" y="4296271"/>
            <a:ext cx="2300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Immediate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B8E966-6415-4E7D-0522-8BEE8538F031}"/>
              </a:ext>
            </a:extLst>
          </p:cNvPr>
          <p:cNvSpPr/>
          <p:nvPr/>
        </p:nvSpPr>
        <p:spPr>
          <a:xfrm>
            <a:off x="229586" y="4786689"/>
            <a:ext cx="34046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Finish fine‑tuning segmentation on corrected masks; expand validation set with field captures.</a:t>
            </a:r>
            <a:endParaRPr lang="en-US" sz="17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84A2FA5-28F4-4F7A-19E4-2493CF58223F}"/>
              </a:ext>
            </a:extLst>
          </p:cNvPr>
          <p:cNvSpPr/>
          <p:nvPr/>
        </p:nvSpPr>
        <p:spPr>
          <a:xfrm>
            <a:off x="4263651" y="3766919"/>
            <a:ext cx="1840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C1F9CA4-7A77-C675-7BE4-D92BF3FF0832}"/>
              </a:ext>
            </a:extLst>
          </p:cNvPr>
          <p:cNvSpPr/>
          <p:nvPr/>
        </p:nvSpPr>
        <p:spPr>
          <a:xfrm>
            <a:off x="4263651" y="4121963"/>
            <a:ext cx="34046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E6F4021-F911-6E25-B140-211558B7E5A7}"/>
              </a:ext>
            </a:extLst>
          </p:cNvPr>
          <p:cNvSpPr/>
          <p:nvPr/>
        </p:nvSpPr>
        <p:spPr>
          <a:xfrm>
            <a:off x="4263651" y="4296271"/>
            <a:ext cx="2300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Near term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9B7B67E-2496-7DBF-C833-83B105EB13B7}"/>
              </a:ext>
            </a:extLst>
          </p:cNvPr>
          <p:cNvSpPr/>
          <p:nvPr/>
        </p:nvSpPr>
        <p:spPr>
          <a:xfrm>
            <a:off x="4263651" y="4786689"/>
            <a:ext cx="3404658" cy="1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more crop varieties and automate dataset loading from user corrections.</a:t>
            </a:r>
            <a:endParaRPr lang="en-US" sz="17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DE4AEE6-95D7-C650-61D1-16712E4ECD9B}"/>
              </a:ext>
            </a:extLst>
          </p:cNvPr>
          <p:cNvSpPr/>
          <p:nvPr/>
        </p:nvSpPr>
        <p:spPr>
          <a:xfrm>
            <a:off x="8386068" y="3751679"/>
            <a:ext cx="1840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707A789-09A2-A492-E7CA-8D7C7D5959A7}"/>
              </a:ext>
            </a:extLst>
          </p:cNvPr>
          <p:cNvSpPr/>
          <p:nvPr/>
        </p:nvSpPr>
        <p:spPr>
          <a:xfrm>
            <a:off x="8386068" y="4106723"/>
            <a:ext cx="34046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C9AF2E8-6A86-C41A-44BF-DEDC445D78B3}"/>
              </a:ext>
            </a:extLst>
          </p:cNvPr>
          <p:cNvSpPr/>
          <p:nvPr/>
        </p:nvSpPr>
        <p:spPr>
          <a:xfrm>
            <a:off x="8386068" y="4281031"/>
            <a:ext cx="2300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Mid term</a:t>
            </a:r>
            <a:endParaRPr lang="en-US" sz="2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FEEBCA5-A7D9-AEC6-DDE9-2D9FE28AD6EA}"/>
              </a:ext>
            </a:extLst>
          </p:cNvPr>
          <p:cNvSpPr/>
          <p:nvPr/>
        </p:nvSpPr>
        <p:spPr>
          <a:xfrm>
            <a:off x="8386068" y="4771449"/>
            <a:ext cx="34046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with drone imagery for monitoring and early warning systems.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28198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9C7E08C-A793-6E8F-9EC5-34E54AB768B3}"/>
              </a:ext>
            </a:extLst>
          </p:cNvPr>
          <p:cNvSpPr/>
          <p:nvPr/>
        </p:nvSpPr>
        <p:spPr>
          <a:xfrm>
            <a:off x="4743199" y="168853"/>
            <a:ext cx="26790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References</a:t>
            </a:r>
            <a:endParaRPr lang="en-US" sz="35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FED5D8D-B676-C5EC-6A4D-757104F695B3}"/>
              </a:ext>
            </a:extLst>
          </p:cNvPr>
          <p:cNvSpPr/>
          <p:nvPr/>
        </p:nvSpPr>
        <p:spPr>
          <a:xfrm>
            <a:off x="531143" y="2018824"/>
            <a:ext cx="5434671" cy="1240393"/>
          </a:xfrm>
          <a:prstGeom prst="roundRect">
            <a:avLst>
              <a:gd name="adj" fmla="val 7680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1CA29D-CF2E-D0DC-CC1B-C120EE152779}"/>
              </a:ext>
            </a:extLst>
          </p:cNvPr>
          <p:cNvSpPr/>
          <p:nvPr/>
        </p:nvSpPr>
        <p:spPr>
          <a:xfrm>
            <a:off x="706260" y="2116023"/>
            <a:ext cx="4998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[1] Bouacida I., et al. Information Processing in Agriculture. 2025. Vol. 12. Iss. 1. P. 54–67.</a:t>
            </a:r>
            <a:endParaRPr lang="en-US" sz="175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B375A9A-49BF-C720-7F07-88C375EA376C}"/>
              </a:ext>
            </a:extLst>
          </p:cNvPr>
          <p:cNvSpPr/>
          <p:nvPr/>
        </p:nvSpPr>
        <p:spPr>
          <a:xfrm>
            <a:off x="6335696" y="2018824"/>
            <a:ext cx="5434772" cy="1240393"/>
          </a:xfrm>
          <a:prstGeom prst="roundRect">
            <a:avLst>
              <a:gd name="adj" fmla="val 7680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B189BCA-151B-22F7-C7F7-4D151E7FEE0C}"/>
              </a:ext>
            </a:extLst>
          </p:cNvPr>
          <p:cNvSpPr/>
          <p:nvPr/>
        </p:nvSpPr>
        <p:spPr>
          <a:xfrm>
            <a:off x="6540014" y="2116023"/>
            <a:ext cx="47998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[2] Mohanty S. P., et al. Frontiers in Plant Science. 2016. Vol. 7. Art. no 1419.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E7F1B6E-B262-779D-098B-943826736509}"/>
              </a:ext>
            </a:extLst>
          </p:cNvPr>
          <p:cNvSpPr/>
          <p:nvPr/>
        </p:nvSpPr>
        <p:spPr>
          <a:xfrm>
            <a:off x="638148" y="3813737"/>
            <a:ext cx="11297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Contact: Kirill Klimenko — Novosibirsk State Technical University. Available on request: dataset metadata, model checkpoints, and deployment scripts.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1512015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743</Words>
  <Application>Microsoft Office PowerPoint</Application>
  <PresentationFormat>Широкоэкранный</PresentationFormat>
  <Paragraphs>75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Arimo</vt:lpstr>
      <vt:lpstr>Outfit Extra Bold</vt:lpstr>
      <vt:lpstr>Outfit Light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Silent Rider</dc:creator>
  <cp:lastModifiedBy>Silent Rider</cp:lastModifiedBy>
  <cp:revision>26</cp:revision>
  <dcterms:created xsi:type="dcterms:W3CDTF">2026-04-02T17:04:03Z</dcterms:created>
  <dcterms:modified xsi:type="dcterms:W3CDTF">2026-04-06T16:02:26Z</dcterms:modified>
</cp:coreProperties>
</file>